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4541b17a54f97" /><Relationship Type="http://schemas.openxmlformats.org/officeDocument/2006/relationships/extended-properties" Target="/docProps/app.xml" Id="Ra88e5e3b2a6c411a" /><Relationship Type="http://schemas.openxmlformats.org/officeDocument/2006/relationships/officeDocument" Target="/ppt/presentation.xml" Id="R5fb1840cd49145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ec670b93c4cb3"/>
  </p:sldMasterIdLst>
  <p:notesMasterIdLst>
    <p:notesMasterId xmlns:r="http://schemas.openxmlformats.org/officeDocument/2006/relationships" r:id="R5bae6575f75f4c1a"/>
  </p:notesMasterIdLst>
  <p:sldIdLst>
    <p:sldId xmlns:r="http://schemas.openxmlformats.org/officeDocument/2006/relationships" id="256" r:id="R23445bc3741c4996"/>
    <p:sldId xmlns:r="http://schemas.openxmlformats.org/officeDocument/2006/relationships" id="257" r:id="Re465d2f2ad594962"/>
    <p:sldId xmlns:r="http://schemas.openxmlformats.org/officeDocument/2006/relationships" id="258" r:id="R5d4a3d51a42e447e"/>
    <p:sldId xmlns:r="http://schemas.openxmlformats.org/officeDocument/2006/relationships" id="259" r:id="R017b0b6691f14e3a"/>
    <p:sldId xmlns:r="http://schemas.openxmlformats.org/officeDocument/2006/relationships" id="260" r:id="R5b70fa45acb04cdb"/>
    <p:sldId xmlns:r="http://schemas.openxmlformats.org/officeDocument/2006/relationships" id="261" r:id="R4840c14754534323"/>
    <p:sldId xmlns:r="http://schemas.openxmlformats.org/officeDocument/2006/relationships" id="262" r:id="Rb05b66596228419c"/>
    <p:sldId xmlns:r="http://schemas.openxmlformats.org/officeDocument/2006/relationships" id="263" r:id="Ra9a7457bc02049f2"/>
    <p:sldId xmlns:r="http://schemas.openxmlformats.org/officeDocument/2006/relationships" id="264" r:id="R521947a1c8734a5f"/>
    <p:sldId xmlns:r="http://schemas.openxmlformats.org/officeDocument/2006/relationships" id="265" r:id="R8b1c82c09b9945c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ec670b93c4cb3" /><Relationship Type="http://schemas.openxmlformats.org/officeDocument/2006/relationships/theme" Target="/ppt/theme/theme1.xml" Id="R234a2249832c498e" /><Relationship Type="http://schemas.openxmlformats.org/officeDocument/2006/relationships/notesMaster" Target="/ppt/notesMasters/notesMaster1.xml" Id="R5bae6575f75f4c1a" /><Relationship Type="http://schemas.openxmlformats.org/officeDocument/2006/relationships/presProps" Target="/ppt/presProps.xml" Id="Rb07bfdef3fa74f91" /><Relationship Type="http://schemas.openxmlformats.org/officeDocument/2006/relationships/viewProps" Target="/ppt/viewProps.xml" Id="R585d04d93e964e5a" /><Relationship Type="http://schemas.openxmlformats.org/officeDocument/2006/relationships/tableStyles" Target="/ppt/tableStyles.xml" Id="Rc9fe30c878604d8b" /><Relationship Type="http://schemas.openxmlformats.org/officeDocument/2006/relationships/slide" Target="/ppt/slides/slide1.xml" Id="R23445bc3741c4996" /><Relationship Type="http://schemas.openxmlformats.org/officeDocument/2006/relationships/slide" Target="/ppt/slides/slide2.xml" Id="Re465d2f2ad594962" /><Relationship Type="http://schemas.openxmlformats.org/officeDocument/2006/relationships/slide" Target="/ppt/slides/slide3.xml" Id="R5d4a3d51a42e447e" /><Relationship Type="http://schemas.openxmlformats.org/officeDocument/2006/relationships/slide" Target="/ppt/slides/slide4.xml" Id="R017b0b6691f14e3a" /><Relationship Type="http://schemas.openxmlformats.org/officeDocument/2006/relationships/slide" Target="/ppt/slides/slide5.xml" Id="R5b70fa45acb04cdb" /><Relationship Type="http://schemas.openxmlformats.org/officeDocument/2006/relationships/slide" Target="/ppt/slides/slide6.xml" Id="R4840c14754534323" /><Relationship Type="http://schemas.openxmlformats.org/officeDocument/2006/relationships/slide" Target="/ppt/slides/slide7.xml" Id="Rb05b66596228419c" /><Relationship Type="http://schemas.openxmlformats.org/officeDocument/2006/relationships/slide" Target="/ppt/slides/slide8.xml" Id="Ra9a7457bc02049f2" /><Relationship Type="http://schemas.openxmlformats.org/officeDocument/2006/relationships/slide" Target="/ppt/slides/slide9.xml" Id="R521947a1c8734a5f" /><Relationship Type="http://schemas.openxmlformats.org/officeDocument/2006/relationships/slide" Target="/ppt/slides/slide10.xml" Id="R8b1c82c09b99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935c397bbb44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6be1b767e346cb" /><Relationship Type="http://schemas.openxmlformats.org/officeDocument/2006/relationships/notesMaster" Target="/ppt/notesMasters/notesMaster1.xml" Id="R780fbda71784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84aa332854cde" /><Relationship Type="http://schemas.openxmlformats.org/officeDocument/2006/relationships/notesMaster" Target="/ppt/notesMasters/notesMaster1.xml" Id="R381e50b2cdd9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4c5377f684e24" /><Relationship Type="http://schemas.openxmlformats.org/officeDocument/2006/relationships/notesMaster" Target="/ppt/notesMasters/notesMaster1.xml" Id="R26d6750c645f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de526974c4dbb" /><Relationship Type="http://schemas.openxmlformats.org/officeDocument/2006/relationships/notesMaster" Target="/ppt/notesMasters/notesMaster1.xml" Id="R6fb1c5c6fef3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9b09ea2e4467c" /><Relationship Type="http://schemas.openxmlformats.org/officeDocument/2006/relationships/notesMaster" Target="/ppt/notesMasters/notesMaster1.xml" Id="Rce052a8b3a1c42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632e70c1bd4105" /><Relationship Type="http://schemas.openxmlformats.org/officeDocument/2006/relationships/notesMaster" Target="/ppt/notesMasters/notesMaster1.xml" Id="Rc3deaa0345f0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4a167c62b46d9" /><Relationship Type="http://schemas.openxmlformats.org/officeDocument/2006/relationships/notesMaster" Target="/ppt/notesMasters/notesMaster1.xml" Id="Rca6623d75336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11f80929144a34" /><Relationship Type="http://schemas.openxmlformats.org/officeDocument/2006/relationships/notesMaster" Target="/ppt/notesMasters/notesMaster1.xml" Id="Rbd31d0c689a649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48b80436cf4acd" /><Relationship Type="http://schemas.openxmlformats.org/officeDocument/2006/relationships/notesMaster" Target="/ppt/notesMasters/notesMaster1.xml" Id="R09db20b0bcf94f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ea5e1bbe34fd6" /><Relationship Type="http://schemas.openxmlformats.org/officeDocument/2006/relationships/notesMaster" Target="/ppt/notesMasters/notesMaster1.xml" Id="R3c50420b95ba4b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f827dd20544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52b452a773425c" /><Relationship Type="http://schemas.openxmlformats.org/officeDocument/2006/relationships/slideLayout" Target="/ppt/slideLayouts/slideLayout2.xml" Id="R278af0620ed34f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af0620ed34f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7fff21916449f4" /><Relationship Type="http://schemas.openxmlformats.org/officeDocument/2006/relationships/notesSlide" Target="/ppt/notesSlides/notesSlide1.xml" Id="Rfcc533b96bf1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dc3434b2f46c2" /><Relationship Type="http://schemas.openxmlformats.org/officeDocument/2006/relationships/notesSlide" Target="/ppt/notesSlides/notesSlide2.xml" Id="Rf6a75bb21dca4f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9a6f4f6234eb2" /><Relationship Type="http://schemas.openxmlformats.org/officeDocument/2006/relationships/notesSlide" Target="/ppt/notesSlides/notesSlide3.xml" Id="R8c387fccae3d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2223e73c07421b" /><Relationship Type="http://schemas.openxmlformats.org/officeDocument/2006/relationships/notesSlide" Target="/ppt/notesSlides/notesSlide4.xml" Id="R290d2a197a1c4f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220e9024fb4173" /><Relationship Type="http://schemas.openxmlformats.org/officeDocument/2006/relationships/notesSlide" Target="/ppt/notesSlides/notesSlide5.xml" Id="Rc48d33743151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e7a230509b40be" /><Relationship Type="http://schemas.openxmlformats.org/officeDocument/2006/relationships/notesSlide" Target="/ppt/notesSlides/notesSlide6.xml" Id="R295d9048aa3949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bf8ed3e2f4f5e" /><Relationship Type="http://schemas.openxmlformats.org/officeDocument/2006/relationships/notesSlide" Target="/ppt/notesSlides/notesSlide7.xml" Id="R222dc807c26c48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3ea8a1fc341be" /><Relationship Type="http://schemas.openxmlformats.org/officeDocument/2006/relationships/notesSlide" Target="/ppt/notesSlides/notesSlide8.xml" Id="R92ec10b8f1f64f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0e6c2d065456d" /><Relationship Type="http://schemas.openxmlformats.org/officeDocument/2006/relationships/notesSlide" Target="/ppt/notesSlides/notesSlide9.xml" Id="R804ba7d7f0e14b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ebe36719b4ea1" /><Relationship Type="http://schemas.openxmlformats.org/officeDocument/2006/relationships/notesSlide" Target="/ppt/notesSlides/notesSlide10.xml" Id="R6265af580fa649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735583E-0AE9-477D-B5A3-AB4B1261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F4F7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A8F63-8FFF-479F-9A69-C3308DF1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561BC-8949-4281-B7C5-4566FF1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B8C7"/>
          </a:solidFill>
          <a:ln xmlns:a="http://schemas.openxmlformats.org/drawingml/2006/main" w="0">
            <a:solidFill>
              <a:srgbClr val="2CB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64642-8F29-4C88-A050-C994FF0F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6000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B8C7"/>
                </a:solidFill>
              </a:defRPr>
            </a:pPr>
            <a:r>
              <a:rPr sz="1200" b="1">
                <a:solidFill>
                  <a:srgbClr val="2CB8C7"/>
                </a:solidFill>
              </a:rPr>
              <a:t>STEP 0 + 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4A37C-5E05-442A-BBA7-606E892B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191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MnemonicOS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FEE9F-3019-4BAE-BB9C-EB747BFF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191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FEAF0"/>
                </a:solidFill>
              </a:defRPr>
            </a:pPr>
            <a:r>
              <a:rPr sz="3150" b="1">
                <a:solidFill>
                  <a:srgbClr val="BFEAF0"/>
                </a:solidFill>
              </a:rPr>
              <a:t>True-Raw MemoryOS</a:t>
            </a:r>
          </a:p>
          <a:p xmlns:a="http://schemas.openxmlformats.org/drawingml/2006/main">
            <a:pPr>
              <a:defRPr sz="3150" b="1">
                <a:solidFill>
                  <a:srgbClr val="BFEAF0"/>
                </a:solidFill>
              </a:defRPr>
            </a:pPr>
            <a:r>
              <a:rPr sz="3150" b="1">
                <a:solidFill>
                  <a:srgbClr val="BFEAF0"/>
                </a:solidFill>
              </a:rPr>
              <a:t>+ Learned Daemon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EDA9E-0536-4B1C-8781-31427729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8C7"/>
          </a:solidFill>
          <a:ln xmlns:a="http://schemas.openxmlformats.org/drawingml/2006/main" w="0">
            <a:solidFill>
              <a:srgbClr val="2CB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0DD19-CB6B-4C67-AC9C-7B14544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24600"/>
            <a:ext cx="5619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9EEF7"/>
                </a:solidFill>
              </a:defRPr>
            </a:pPr>
            <a:r>
              <a:rPr sz="1875">
                <a:solidFill>
                  <a:srgbClr val="E9EEF7"/>
                </a:solidFill>
              </a:rPr>
              <a:t>把未经解释的经验保存为可治理、可追溯、可学习的记忆操作系统；再用小模型 daemon 与 RL / preference loop 优化生命周期与 serving。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DACB6-8625-4392-B704-41DE7B46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1238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4B877-0D6D-4EF0-95A3-6FE47EE4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102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13A2E-1B42-421F-AB39-EC80011A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D1DA7-447F-481E-A3E0-4F72B82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714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9525">
            <a:solidFill>
              <a:srgbClr val="E7F8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B049C-175D-4770-A2DD-89E1F4F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5760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B8C7"/>
                </a:solidFill>
              </a:defRPr>
            </a:pPr>
            <a:r>
              <a:rPr sz="1275" b="1">
                <a:solidFill>
                  <a:srgbClr val="2CB8C7"/>
                </a:solidFill>
              </a:rPr>
              <a:t>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E09BC-2241-42DA-BA22-889EC7E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814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BD651-4DEC-4011-82D0-FE16863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524250"/>
            <a:ext cx="1714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FFF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C8AAB-E3CF-4D21-8EA6-38DD685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65760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7A00"/>
                </a:solidFill>
              </a:defRPr>
            </a:pPr>
            <a:r>
              <a:rPr sz="1275" b="1">
                <a:solidFill>
                  <a:srgbClr val="C97A00"/>
                </a:solidFill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F69DB-531F-4A4A-9F6F-70A0D0EA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814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0C45A-978F-449B-81D2-D8573D2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524250"/>
            <a:ext cx="1714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F6822-BA7E-4EC1-83AC-142E58E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65760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A66A"/>
                </a:solidFill>
              </a:defRPr>
            </a:pPr>
            <a:r>
              <a:rPr sz="1275" b="1">
                <a:solidFill>
                  <a:srgbClr val="12A66A"/>
                </a:solidFill>
              </a:rPr>
              <a:t>Canonical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5993B-99DD-4AF0-84C3-0294F447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19100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67085"/>
                </a:solidFill>
              </a:defRPr>
            </a:pPr>
            <a:r>
              <a:rPr sz="2850" b="1">
                <a:solidFill>
                  <a:srgbClr val="667085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1052D-665A-4B97-92E9-6C4C889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9525">
            <a:solidFill>
              <a:srgbClr val="EEF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4996E-386D-42F2-83F0-70FC7B0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1790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Policy Packet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14543-A406-43F5-A637-FC6435E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958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734D1-6F54-4F56-8BB1-60D784A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3870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9525">
            <a:solidFill>
              <a:srgbClr val="EEF0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6577F-97EE-47BA-8289-CA796A4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972050"/>
            <a:ext cx="1790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Outcome Trace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10345-E520-4502-B20A-488C94C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8958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7AD43-332D-4A9E-89DF-00AC7B2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838700"/>
            <a:ext cx="238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EF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6D30D-59E0-48B5-8956-90E29A48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972050"/>
            <a:ext cx="2171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357FF"/>
                </a:solidFill>
              </a:defRPr>
            </a:pPr>
            <a:r>
              <a:rPr sz="1275" b="1">
                <a:solidFill>
                  <a:srgbClr val="7357FF"/>
                </a:solidFill>
              </a:rPr>
              <a:t>Learned Daemon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A7D513-2DEC-4646-BF05-60512461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9601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96BDD-190B-4809-B504-4FA1BD5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9067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核心：raw 不是要直接塞给 LLM；raw 是 MemoryOS 可重新投影、验证、训练和回滚的操作基底。Serving 必须离 raw 足够远，只返回被治理的最小有效上下文。</a:t>
            </a:r>
          </a:p>
        </p:txBody>
      </p:sp>
    </p:spTree>
    <p:extLst>
      <p:ext uri="{BB962C8B-B14F-4D97-AF65-F5344CB8AC3E}">
        <p14:creationId xmlns:p14="http://schemas.microsoft.com/office/powerpoint/2010/main" val="20782790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6461867-B129-4CBA-8046-B9BE9B43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9268-A85B-4213-9BBF-6DFB102F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2A260-4847-45E6-818A-8621574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BACKGROUND + MOTIVATION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BD80E-1C9B-436F-85A4-C61FA72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当前 agent memory 的问题不是“检索不够好”，而是边界过早停在 clean context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440F812-99EA-4274-A793-33F7AAA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Memory 确实提升 agent 可用性；问题在于：如果 memory layer 只保存被总结、截断、格式化后的片段，它就失去了后续治理、再解释和训练的操作空间。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1487B-E1F0-4681-8FDF-7F48477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为什么不是“恰到好处”？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1EB76-5DDA-4DC8-99A7-7C03570E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7736681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22EE3-6225-4FC5-BE03-EAA0AC9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735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已知事实：memory 有效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57CA-D71C-4D39-A98C-A37EE74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7353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跨 session 记忆、偏好保持、项目上下文复用，会显著提升 agent 连续性与可用性。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AEFED-5424-4DCF-8BB9-D4F740A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7736681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6E554-C431-4527-95B3-6BBDF4F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735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但它会引入新失败模式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9896B-1164-4B05-895B-E30FA21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7353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过期结论、错误归因、上下文污染、细节过载、不可追溯更新，会让 agent 更自信地错。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D459B-76B9-406C-A2A2-C3DE6E0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7736681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22972-1D33-4A7B-93AA-45B89CB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735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MemoraX AI 研究启发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D4ECF-071B-4B91-8780-54D31F36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7353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过细、过贴近 raw 的 skill / memory 可能拖累 LLM 处理效果；真正需要的是选择、抽象、分层和谨慎 serving。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FAF5D-919C-4764-9A95-2F7B01C8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15150"/>
            <a:ext cx="7734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推论：raw 的价值不在“更多上下文”，而在“可重新投影、可审计、可训练、可回滚”。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61A4B-FDD6-4160-A796-4550BADB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828"/>
                </a:solidFill>
              </a:defRPr>
            </a:pPr>
            <a:r>
              <a:rPr sz="2175" b="1">
                <a:solidFill>
                  <a:srgbClr val="101828"/>
                </a:solidFill>
              </a:rPr>
              <a:t>一个 MemoryOS 应该把两件事分开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1CA8F-6EE8-47C3-BFEB-95CAD93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831" y="2847975"/>
            <a:ext cx="8551069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DB79C-F13C-4456-85D3-873EA75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802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Raw side：尽量完整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A04E7-B077-4B35-953B-1E2E5E1E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保留原始证据、时间、来源、上下文与操作痕迹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7AC97-7D76-4475-98F6-5DC2337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2905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允许未来更好的 extractor / daemon 重新解释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16720-580E-4A96-907F-91263B84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148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作为 provenance、training trace、rollback 的共同根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EFE9C-689F-4EE7-9185-84AE2285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831" y="5448300"/>
            <a:ext cx="8551069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1D19D-D034-4FF5-BE62-0309B43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76900"/>
            <a:ext cx="802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</a:defRPr>
            </a:pPr>
            <a:r>
              <a:rPr sz="2400" b="1">
                <a:solidFill>
                  <a:srgbClr val="101828"/>
                </a:solidFill>
              </a:rPr>
              <a:t>Serving side：尽量克制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FA85D-CEBF-4AEF-9E64-C8A5613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341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不直接暴露 raw；返回 policy-aware packet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A3DEE-093B-4230-9949-D48B5DE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41985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用 freshness、confidence、warning、verification action 控制风险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3E0A8-409C-451A-B1FF-9AE07DF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705600"/>
            <a:ext cx="802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让 LLM 看到最小必要信息，而不是细节洪水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70805-68B0-4F8A-B6AE-7CB97E3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831" y="8048625"/>
            <a:ext cx="8551069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5F0E3-D80D-4161-B5A1-C9BF906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229600"/>
            <a:ext cx="817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F6BFF"/>
                </a:solidFill>
              </a:defRPr>
            </a:pPr>
            <a:r>
              <a:rPr sz="2025" b="1">
                <a:solidFill>
                  <a:srgbClr val="2F6BFF"/>
                </a:solidFill>
              </a:rPr>
              <a:t>因此需要 MemoryOS，而非简单 RAG / memory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95D70-4636-46FB-BA67-9D9E70E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572500"/>
            <a:ext cx="817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RAG 解决“找什么”；MemoryOS 还要解决“什么能进来、如何变成记忆、何时过期、何时警告、什么反馈会改变系统”。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589FE-D8D4-48B7-90F2-3297BB6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2D182-712F-48C7-A818-8F3E174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15048811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4C49623-0257-489D-8B8F-B65316B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A73E6-6C2C-4C21-B08E-C35D083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A66A"/>
          </a:solidFill>
          <a:ln xmlns:a="http://schemas.openxmlformats.org/drawingml/2006/main" w="0">
            <a:solidFill>
              <a:srgbClr val="12A6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0ABDC-4ECF-4BCC-9EF7-42E3E5A6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A66A"/>
                </a:solidFill>
              </a:defRPr>
            </a:pPr>
            <a:r>
              <a:rPr sz="1200" b="1">
                <a:solidFill>
                  <a:srgbClr val="12A66A"/>
                </a:solidFill>
              </a:rPr>
              <a:t>MNEMONICOS VISION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0D2EE6-9A1A-4FA0-B9FB-BF24CE22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MnemonicOS 是一个 agent-independent 的记忆运行时：四个 flange 包住核心知识机器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589A79-1BBA-4E41-BC72-DF21BA0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它不替代 agent、数据库、向量引擎或文档转换器；它拥有 memory contract、lifecycle 和 policy semantics。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4F127-0D47-4723-8F3C-ED98DCF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6918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66BEB-AAE6-4988-A2F6-928AB768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4495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North</a:t>
            </a:r>
          </a:p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callers /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98659-8570-4DA0-8CA8-D150439A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49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Codex, Claude Code, CLI, hooks, HTTP, MCP；只传 task/session/outcome，不拥有 memory semantics。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B22F5-7A66-4618-B67F-E643124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400300"/>
            <a:ext cx="6492240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3DBD4-B2CE-4D78-ADF2-21E11AD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603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Core Knowledge Machinery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B4763-003D-4D7E-9291-D36F1F9D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typed lifecycle: source / procedure / decision / incident /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A153-E195-4936-A4F0-38BB276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9580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archive-first intake + promotion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7AB83-F49E-40D6-B78A-10133CAC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trust / freshness / contradiction / negative knowledge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4A4DB-A19F-4C66-B594-4F5D25FD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6730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policy-aware context packets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E96F9-AE92-4C1F-A79F-6CED4EF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outcome-linked validation + daemon maintenance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5A8B1-42D0-40D6-A38F-EB6C7890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0" y="2400300"/>
            <a:ext cx="486918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EF0D4-4DB6-484E-B8A5-0603ACA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571750"/>
            <a:ext cx="4495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East</a:t>
            </a:r>
          </a:p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memory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C09C1-A8F1-451B-92C0-29559A90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143250"/>
            <a:ext cx="449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context packet, recommendation, warning, review queue, export；输出是带 policy 的产品，不是 ranked hits。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66EDA-FDFB-43F9-B5D1-50968B0C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486918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9525">
            <a:solidFill>
              <a:srgbClr val="2CB8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60C22-6AEA-4D7C-ADF9-1191205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4495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8C7"/>
                </a:solidFill>
              </a:defRPr>
            </a:pPr>
            <a:r>
              <a:rPr sz="1875" b="1">
                <a:solidFill>
                  <a:srgbClr val="2CB8C7"/>
                </a:solidFill>
              </a:rPr>
              <a:t>West</a:t>
            </a:r>
          </a:p>
          <a:p xmlns:a="http://schemas.openxmlformats.org/drawingml/2006/main">
            <a:pPr>
              <a:defRPr sz="1875" b="1">
                <a:solidFill>
                  <a:srgbClr val="2CB8C7"/>
                </a:solidFill>
              </a:defRPr>
            </a:pPr>
            <a:r>
              <a:rPr sz="1875" b="1">
                <a:solidFill>
                  <a:srgbClr val="2CB8C7"/>
                </a:solidFill>
              </a:rPr>
              <a:t>raw intake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0F21A-D92C-43BE-880D-0C4D6C0A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4495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sessions, PDFs, HTML, DOCX, Markdown, logs, web clips, code docs；MnemonicOS 拥有 projection 和 provenance。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BAC9F-ED67-41EC-995B-C5F15332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0" y="4733925"/>
            <a:ext cx="486918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1EB4C-BFA3-4484-8265-ADEA246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914900"/>
            <a:ext cx="4495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South</a:t>
            </a:r>
          </a:p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substrates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8ED43-55F3-4E3C-8532-113E2CE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467350"/>
            <a:ext cx="449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Markdown vault, SQLite, FTS, vectors, graph, object store；数据库和索引可替换，不是产品边界。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4AB0F-97E9-4318-84D0-AA41FF3E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86600"/>
            <a:ext cx="1668780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6CE05-089F-4D1A-9AE3-B6F42A6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0"/>
            <a:ext cx="1047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9525">
            <a:solidFill>
              <a:srgbClr val="E7F8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9FD06-5F6C-4B06-890B-BC08C03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34350"/>
            <a:ext cx="83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CB8C7"/>
                </a:solidFill>
              </a:defRPr>
            </a:pPr>
            <a:r>
              <a:rPr sz="1275" b="1">
                <a:solidFill>
                  <a:srgbClr val="2CB8C7"/>
                </a:solidFill>
              </a:rPr>
              <a:t>Raw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FF49C-2D6E-4474-8C94-09FAFA9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FD17E-317F-4C87-8AF6-1D26C0CA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0"/>
            <a:ext cx="13811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D965A-52B7-4218-8CDA-1351A20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1343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A105F-0A94-483F-AD4D-28DA7844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982A9-CCBD-4AEB-B767-315D76D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8001000"/>
            <a:ext cx="161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FFF2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33DF2-AAA3-471C-847F-E203B113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134350"/>
            <a:ext cx="140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7A00"/>
                </a:solidFill>
              </a:defRPr>
            </a:pPr>
            <a:r>
              <a:rPr sz="1275" b="1">
                <a:solidFill>
                  <a:srgbClr val="C97A00"/>
                </a:solidFill>
              </a:rPr>
              <a:t>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E733C-F601-40E7-91DB-664422E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E222E-81B1-4F89-A832-A0C9C16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8001000"/>
            <a:ext cx="1476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844170-028B-4667-AB91-092D875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34350"/>
            <a:ext cx="125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A66A"/>
                </a:solidFill>
              </a:defRPr>
            </a:pPr>
            <a:r>
              <a:rPr sz="1275" b="1">
                <a:solidFill>
                  <a:srgbClr val="12A66A"/>
                </a:solidFill>
              </a:rPr>
              <a:t>Candidate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CD45CF-C4C9-4BCB-ADF2-E21B4B0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F4C16B-C60F-4FB8-8907-74B2D5D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001000"/>
            <a:ext cx="15716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EFEAF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6A231B-BD7F-410F-93E9-97D672C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1343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357FF"/>
                </a:solidFill>
              </a:defRPr>
            </a:pPr>
            <a:r>
              <a:rPr sz="1275" b="1">
                <a:solidFill>
                  <a:srgbClr val="7357FF"/>
                </a:solidFill>
              </a:rPr>
              <a:t>Canonical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43C8EE-1029-4821-86A0-096E4064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17B15-EB75-4757-BD79-3233D397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8001000"/>
            <a:ext cx="1238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0F5"/>
          </a:solidFill>
          <a:ln xmlns:a="http://schemas.openxmlformats.org/drawingml/2006/main" w="9525">
            <a:solidFill>
              <a:srgbClr val="EEF0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4594B6-F38F-45DF-BBBA-00A4034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134350"/>
            <a:ext cx="102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Packet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697346-B82C-403C-9657-88148711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0581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8028DD-3403-41E3-80CD-9DE85314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8001000"/>
            <a:ext cx="1333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D1EE06-2CB4-4C70-83B0-DE1292FC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134350"/>
            <a:ext cx="1104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5D5D"/>
                </a:solidFill>
              </a:defRPr>
            </a:pPr>
            <a:r>
              <a:rPr sz="1275" b="1">
                <a:solidFill>
                  <a:srgbClr val="E85D5D"/>
                </a:solidFill>
              </a:rPr>
              <a:t>Outcome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681008-E806-4692-ACBD-6E350790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AB4565-F7CC-4AF3-842B-14319AE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2480720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8A72EF7-8EAA-44FD-A543-33274D2C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734A0-76C0-4E36-99BC-B01D235B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42316-CC85-4745-9229-F5E58125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357FF"/>
                </a:solidFill>
              </a:defRPr>
            </a:pPr>
            <a:r>
              <a:rPr sz="1200" b="1">
                <a:solidFill>
                  <a:srgbClr val="7357FF"/>
                </a:solidFill>
              </a:rPr>
              <a:t>PROCESSING LOGIC + RL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C5E8F3-90DA-4F98-A6EC-0D1DDAFB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处理核心是确定性的；哪些规则最有效，由 daemon / RL 在轨道内学习和固化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B3B374-5112-45CF-A118-F0C7789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我们不是让大模型随意写记忆，而是让小模型 daemon 学习结构化决策，并让 runtime/schema/rule 在评估中演进。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9225B-7A99-41D1-8967-E954CBE3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确定性 runtime 负责边界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2D034-8A84-4B55-BC41-CD5D95A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8143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017F1-2122-40DA-B3AF-2BDB903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Runtime / schema /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5DAC9-0437-4626-827F-96F8C4D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777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权限、类型、字段、promotion 状态、audit、rollback、deletion cascade、canonical write 都由工程规则执行。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4C10-CA2B-41A7-BBB9-CE017561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143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390E2-48C6-4A3F-B829-36451DC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Daemon 负责决策建议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AB5F0-403F-4456-9DF5-6AB1FF10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777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score / suggest：extract、link、promote、defer、merge、flag stale、serve with warning、request review。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F3B85-8C5D-4AD2-AEC9-1CF2C2F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8143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34E36-E916-41EF-A616-5666678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LLM daemon 负责填充与解释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2E39C-6F23-49E4-8F51-43098A55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777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从 raw / projection 中提取结构化内容，给出 proposal + explanation；runtime 决定是否落库。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8F498-556A-46B2-90AC-BDF3B323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可学习的闭环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C0DA7-BFA6-4969-9BFA-3DC90E7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0300"/>
            <a:ext cx="8143875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91602-886E-482E-BAA1-50314BA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62350"/>
            <a:ext cx="2095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1CECF-67CA-4C8A-AD6A-DBC03F6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1866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Raw + projection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6B53E-6E19-4C22-B3EA-4713E61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6195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88EAF-2F0D-4DEC-9800-E674789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562350"/>
            <a:ext cx="21907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F0A47-DE7C-42FA-9AFC-9637C2A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695700"/>
            <a:ext cx="1981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Daemon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12445-2ADB-4273-8AEA-5C10965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6195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4A461-7FC0-4E85-9506-2E1B275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356235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48D69-C0B4-4E62-BE0A-E1BA40E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3695700"/>
            <a:ext cx="1790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Runtime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3F159-8D81-42C3-9D7B-3348725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7195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4A9CD-E47F-4120-8677-1C27BB7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790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Policy packet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B0830-3CCE-4984-AA15-B356A45F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2291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EC84E-67DF-419A-8FEF-41AD5AB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17195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A8AF3-2E1F-47E0-8544-EFDF4F3F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305300"/>
            <a:ext cx="1790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Task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556F0-1E5E-427C-A5C5-A79268C3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2291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D4E59F-0286-4E39-8938-8BDD9C6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171950"/>
            <a:ext cx="238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096FF6-9A62-4E82-B382-650A81D1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4305300"/>
            <a:ext cx="2171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Reward / preference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EF7CE3-D327-45EA-A94D-CA537E6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53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FEAF0"/>
                </a:solidFill>
              </a:defRPr>
            </a:pPr>
            <a:r>
              <a:rPr sz="3600" b="1">
                <a:solidFill>
                  <a:srgbClr val="BFEAF0"/>
                </a:solidFill>
              </a:rPr>
              <a:t>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E60A0-C416-4C03-B0CA-0959D6A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81550"/>
            <a:ext cx="697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EEF7"/>
                </a:solidFill>
              </a:defRPr>
            </a:pPr>
            <a:r>
              <a:rPr sz="1800" b="1">
                <a:solidFill>
                  <a:srgbClr val="E9EEF7"/>
                </a:solidFill>
              </a:rPr>
              <a:t>更新 action taxonomy / schema weights / promotion policy；高置信规则被固化进 runtime。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6B7AB-220D-43B4-AEBB-F61DCA27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572250"/>
            <a:ext cx="8143875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2868E6-3149-48BC-B113-B4E1106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743700"/>
            <a:ext cx="7772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避免不可收敛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9A0320-515A-4735-AA7C-5159CF78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067550"/>
            <a:ext cx="7772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先冻结 schema v1 与 action taxonomy；先做 SFT / preference ranking；只在窄动作集合上做 offline RL；每次实验都能回滚到 deterministic baseline。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60462-A3DB-4CF5-9BC2-63941CDB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C4DB52-ACF4-4CC2-AAB0-32151954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312289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BD15A02-4257-454B-89F3-20FD64D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5D7AF-C360-4252-B358-96C8A5D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7A00"/>
          </a:solidFill>
          <a:ln xmlns:a="http://schemas.openxmlformats.org/drawingml/2006/main" w="0">
            <a:solidFill>
              <a:srgbClr val="C97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C9FD6-997F-404F-B37B-8C5C16F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00"/>
                </a:solidFill>
              </a:defRPr>
            </a:pPr>
            <a:r>
              <a:rPr sz="1200" b="1">
                <a:solidFill>
                  <a:srgbClr val="C97A00"/>
                </a:solidFill>
              </a:rPr>
              <a:t>THREE-STEP ROADMAP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B3CBD-5CEB-4DE8-BFF9-124F228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三个 step 的关系：先建 substrate，再证明 learned loop，最后才进入 neuro-symbolic core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8828BD-B219-49E2-9F93-7C95656C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Step 2 是远大愿景，但必须由 Step 1 的数据、反馈闭环和 plateau 信号触发。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23402-4F89-4D98-9853-970ACCF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5410200" cy="69342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AA9D7-5501-4618-BF43-8D73ED41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F3052-6449-4010-9B52-DB58ABFB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47950"/>
            <a:ext cx="417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True-Raw MemoryOS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A18CC-B62B-46EE-B85F-7C9B101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建立 raw intake、projection、typed lifecycle、policy packet、outcome loop、evaluation。目标是让 memory 具备可治理、可追溯、可训练的系统边界。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DACA-7EEB-4350-B23C-0D4CBD7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410200" cy="69342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11430">
            <a:solidFill>
              <a:srgbClr val="735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02539-186B-46A6-A992-31F0A134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357FF"/>
                </a:solidFill>
              </a:defRPr>
            </a:pPr>
            <a:r>
              <a:rPr sz="3300" b="1">
                <a:solidFill>
                  <a:srgbClr val="7357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44C3B-75D4-4675-9189-186B3D4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417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Learned Daemon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91675-C958-4C8C-8822-D11FE3A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训练 &lt;8B 小模型 daemon 做结构化整理、分类、promotion、serving 策略建议；先 SFT / preference，再进入窄动作 offline RL。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449A7-F92A-48D4-9216-2D5CDC8C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00300"/>
            <a:ext cx="5410200" cy="69342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E85D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6D41-16D9-4097-A0B3-D535018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57175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85D5D"/>
                </a:solidFill>
              </a:defRPr>
            </a:pPr>
            <a:r>
              <a:rPr sz="3300" b="1">
                <a:solidFill>
                  <a:srgbClr val="E85D5D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77238-1653-4C8B-8F22-275CF956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647950"/>
            <a:ext cx="4171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Neuro-Symbolic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16D3A-C955-4BAF-862D-D7C3B519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0515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当 Step 1 证明反馈闭环且粗粒度对象成为瓶颈后，重构为 observation / fragment / claim / tension / synthesis / model 的深层推理核心。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85130-64E4-4066-8792-F9955CB5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D84C7-8C64-4660-936E-9A86948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6758104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F4BDAB0-5929-497D-AA16-D8BED7D6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A8C3F-A589-463D-8191-5976B1EA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B8C7"/>
          </a:solidFill>
          <a:ln xmlns:a="http://schemas.openxmlformats.org/drawingml/2006/main" w="0">
            <a:solidFill>
              <a:srgbClr val="2CB8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5AF34-86B6-420B-99CE-F26845C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B8C7"/>
                </a:solidFill>
              </a:defRPr>
            </a:pPr>
            <a:r>
              <a:rPr sz="1200" b="1">
                <a:solidFill>
                  <a:srgbClr val="2CB8C7"/>
                </a:solidFill>
              </a:rPr>
              <a:t>STEP 0 BUILD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0BECD8-CF9C-47EA-8C61-F64B0E2D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Step 0 不是“再做一个 memory backend”，而是构建可被任何 agent 信任的 MemoryOS contract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8AFEEE-47A2-481B-B5D3-19CEA0D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当前 repo 已有 local-first vault、runtime protocol、hybrid retrieval、trust/freshness、promotion queue、daemon maintenance；下一步是把它产品化为 true-raw substrate。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230A8-7C59-459B-8F78-EB0E1C5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9525">
            <a:solidFill>
              <a:srgbClr val="2CB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D49AA-93D7-4891-BC52-47CC34F6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8C7"/>
                </a:solidFill>
              </a:defRPr>
            </a:pPr>
            <a:r>
              <a:rPr sz="1875" b="1">
                <a:solidFill>
                  <a:srgbClr val="2CB8C7"/>
                </a:solidFill>
              </a:rPr>
              <a:t>Raw vault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7FF20-112D-4668-9AAB-9014114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append-only raw；content hash；source class；bridge identity；privacy class；deletion trail。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8099D-47A8-4F8A-8471-2339A15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628900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5FB9F-6068-4046-82DA-7FC2F92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03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Projection plugins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A817A-8B99-4BB6-A80E-0DCF574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session / Markdown / PDF / HTML first；DOCX / logs / source tree stretch；projection 可重建。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C2766-1CF3-4621-91F9-DC172F4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28900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F45B5-76C6-46C5-B776-29776A48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Typed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56208-FD70-49D4-887B-4050ADB5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source / procedure / decision / incident / concept；draft / review / canonical / stale / contested。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9B6C8-CFA8-4088-87CD-DA88356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628900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C97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5D2AC-3E06-4A80-A5ED-283479C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003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7A00"/>
                </a:solidFill>
              </a:defRPr>
            </a:pPr>
            <a:r>
              <a:rPr sz="1875" b="1">
                <a:solidFill>
                  <a:srgbClr val="C97A00"/>
                </a:solidFill>
              </a:rPr>
              <a:t>Promotion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A76EB-6B4A-4925-8F5F-FCC807F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124200"/>
            <a:ext cx="365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默认不直接写 canonical；daemon 解释 promote / defer / update / merge 的原因。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10135-F2A0-480F-ADF3-7030D2B0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CCD05-2A2A-4168-8FF8-A7F867B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Freshness + 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9AFA6-3216-45F5-B2C0-5DF2DA9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freshness score、trust/usefulness、contradiction review、reverify / relearn tasks。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C4553-DB0B-40BD-8D24-FEC2AE0A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4714875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4F99B-1795-4029-BFC8-F8CA810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Policy packet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50F45-BBB1-48E7-B6D8-62E8244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197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retrieval_state、recommendation、verification_action、warnings、provenance、bounded context。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1E039-A17F-4DE0-B01C-067F73E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14875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D695D-0B25-4A55-B282-F0AEBEA7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Outcome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87D37-490D-40A7-8BE1-11EDB0A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task_id 稳定；记录 success / failure / useful_memory / misleading_memory；反馈到维护。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F5C93-3ADA-4FB9-AB38-23D5F8B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4714875"/>
            <a:ext cx="4043363" cy="191452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37B3D-0EA3-479C-9C0A-3B76ACAD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Agent-independent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E0190-B187-4DB3-8BCA-DE82F7A9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219700"/>
            <a:ext cx="3657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Codex / Claude Code / CLI / HTTP / MCP 可共享一个 vault，但保留 bridge-scoped identity。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C068C-88EC-45D9-9949-F8D70CB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19900"/>
            <a:ext cx="16687800" cy="25146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6E3E50-44D8-4256-A287-8D65704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1615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与竞品的关键差异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62465-5640-4F31-B617-20E1866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0"/>
            <a:ext cx="1615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EF7"/>
                </a:solidFill>
              </a:defRPr>
            </a:pPr>
            <a:r>
              <a:rPr sz="1650">
                <a:solidFill>
                  <a:srgbClr val="E9EEF7"/>
                </a:solidFill>
              </a:rPr>
              <a:t>• 不是数据库：SQLite / vector / graph 是可替换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9727C-3699-437F-B95E-E7D699A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15250"/>
            <a:ext cx="1615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EF7"/>
                </a:solidFill>
              </a:defRPr>
            </a:pPr>
            <a:r>
              <a:rPr sz="1650">
                <a:solidFill>
                  <a:srgbClr val="E9EEF7"/>
                </a:solidFill>
              </a:rPr>
              <a:t>• 不是 agent framework：agent 调用 MnemonicOS，但 memory contract 不属于某个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EBBA0-2CA7-4BE7-9F09-6D6A4C5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20050"/>
            <a:ext cx="1615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EF7"/>
                </a:solidFill>
              </a:defRPr>
            </a:pPr>
            <a:r>
              <a:rPr sz="1650">
                <a:solidFill>
                  <a:srgbClr val="E9EEF7"/>
                </a:solidFill>
              </a:rPr>
              <a:t>• 不是 CRUD memory：raw → projection → candidate → canonical → packet → outcome 是完整生命周期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D5AA6-8B76-4F6C-A0DF-5E8CAFA4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05800"/>
            <a:ext cx="1615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9EEF7"/>
                </a:solidFill>
              </a:defRPr>
            </a:pPr>
            <a:r>
              <a:rPr sz="1650">
                <a:solidFill>
                  <a:srgbClr val="E9EEF7"/>
                </a:solidFill>
              </a:rPr>
              <a:t>• 不仅记住成功：negative knowledge 与 misleading memory 是一等对象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B550C-9E41-4524-B5A8-1CB35181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D3DE65-8B43-498F-AE5D-4B7EC624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5791977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CF314BB-51A3-468B-8C4E-B51E3CA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4D62D-2E18-4EC9-BDFD-0135B79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57FF"/>
          </a:solidFill>
          <a:ln xmlns:a="http://schemas.openxmlformats.org/drawingml/2006/main" w="0">
            <a:solidFill>
              <a:srgbClr val="735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90746-275D-4177-A1AC-631274AD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357FF"/>
                </a:solidFill>
              </a:defRPr>
            </a:pPr>
            <a:r>
              <a:rPr sz="1200" b="1">
                <a:solidFill>
                  <a:srgbClr val="7357FF"/>
                </a:solidFill>
              </a:rPr>
              <a:t>STEP 1 RL DESIGN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E2AB34-B848-4A58-B202-25A512F3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用 &lt;8B learned daemon 做结构化整理和策略选择，而不是训练一个“懂一切”的大模型外挂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F4B76B-5EAD-4314-BD14-C5DFE8E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这个 core 不需要理解所有业务内容；它需要学习 MemoryOS 内部的结构性整理、有效分类、更新策略和 serving 风险控制。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C7A0F-025C-4B23-AFA8-33D6537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输入 →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A18EC-910C-43A4-AD19-8C8B1B7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8143875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A05EC-F06D-4DEB-B843-369FBDCF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BFF"/>
                </a:solidFill>
              </a:defRPr>
            </a:pPr>
            <a:r>
              <a:rPr sz="2100" b="1">
                <a:solidFill>
                  <a:srgbClr val="2F6BFF"/>
                </a:solidFill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7EC6C-228F-4823-B7EF-AEEF47C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raw projection spans +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CD08F-4E57-47F7-86C8-0B7A5F45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current canonical objects + freshness/trust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C11E5-A0B1-4D44-835F-68501AB8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retrieval packet + task intent + token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3F0F0-4E02-48EC-B307-46732874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outcome traces: useful / misleading / retry /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7B7AB-AB29-4A9E-B23B-9EA1F48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8143875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B3BE0-4058-4A90-BAC8-5752E3B8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357FF"/>
                </a:solidFill>
              </a:defRPr>
            </a:pPr>
            <a:r>
              <a:rPr sz="2100" b="1">
                <a:solidFill>
                  <a:srgbClr val="7357FF"/>
                </a:solidFill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DFFB9-E54B-4856-82C6-67CB354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7695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action suggestion + score + rationale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50C65-C2A1-4DF6-BFE9-A6E36F5D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4365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candidate object fields / links / type labels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A55CA-1C00-4C43-8A35-304D4B3E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2940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serve format: concise / example-heavy / warning-first / provenance-first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E6724-F666-4E7A-8AEF-5DD4395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96100"/>
            <a:ext cx="7696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• schema/rule change proposal for offline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0C307-DE80-4613-BBB3-0102762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训练与收敛策略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087BF-5FD8-4E3C-908A-13956C0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57500"/>
            <a:ext cx="8143875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AD3C1-DFCA-4EC6-A1F2-9AABC6DC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86200"/>
            <a:ext cx="1714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00C9D-A6E9-426E-9F60-9BC3995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955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Heuristic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1F4C6-25AD-495F-848C-DADF21B4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9433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8408D-52D0-49BC-BD01-E426395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886200"/>
            <a:ext cx="857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474CF-EDAD-4911-95EA-9651B0D3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019550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53AFB-A4AB-4216-9479-9931D65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9433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B0B16-802C-47B9-8096-967664C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886200"/>
            <a:ext cx="152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34449-05BA-4F0E-B1D4-38E85A12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4019550"/>
            <a:ext cx="129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6EA063-E028-4C99-B2F3-71D32361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39433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A94A6"/>
                </a:solidFill>
              </a:defRPr>
            </a:pPr>
            <a:r>
              <a:rPr sz="2250" b="1">
                <a:solidFill>
                  <a:srgbClr val="8A94A6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DB055-9A1D-419C-BDE1-7861E95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3886200"/>
            <a:ext cx="138112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24A"/>
          </a:solidFill>
          <a:ln xmlns:a="http://schemas.openxmlformats.org/drawingml/2006/main" w="9525">
            <a:solidFill>
              <a:srgbClr val="2632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56891-3380-46BC-98A2-BC5CAFA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4019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Offline 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7ADA7-E8FB-49C6-9057-5F3D382E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76750"/>
            <a:ext cx="765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Reward = downstream usefulness + compactness + provenance correctness + freshness safety + schema validity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895E7-21E9-4BD6-9755-33BDB3A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172200"/>
            <a:ext cx="3986213" cy="1495425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31E96-7FD0-4E6A-863B-E1A5F2CD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4365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小模型定位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0D8350-C3BD-4A4A-8B79-623C473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667500"/>
            <a:ext cx="3600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&lt;8B；本地/低成本；只学 memory operations，不承担最终任务推理。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F22EC-545F-4B09-83F8-5F465E3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6172200"/>
            <a:ext cx="3986213" cy="1495425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3CAFE1-8866-45CD-8F65-93155BC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34365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比 regex 更 adaptive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F3E92-750E-413D-A6D8-2EEEB72A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667500"/>
            <a:ext cx="3600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面对不稳定输入时能做分类、聚合、链接、风险判断；但写入仍受 runtime gate 控制。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0B1BB9-89E7-4830-899F-9B4CED3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839075"/>
            <a:ext cx="3986213" cy="1495425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A0F722-9817-4F3B-B26E-7117EA0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802005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避免变成大模型补丁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316409-1529-466F-B8AF-A4739759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8343900"/>
            <a:ext cx="3600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训练目标不追求回答任务，而追求可复用的 MemoryOS action policy。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B98AB-04E7-4C2E-829D-B65C8E49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7839075"/>
            <a:ext cx="3986213" cy="1495425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6185B7-BCC9-4495-AEA4-7C18C63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020050"/>
            <a:ext cx="360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避免不可收敛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14B904-FF42-4B94-8A57-2371CCF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8343900"/>
            <a:ext cx="3600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8"/>
                </a:solidFill>
              </a:defRPr>
            </a:pPr>
            <a:r>
              <a:rPr sz="1500">
                <a:solidFill>
                  <a:srgbClr val="101828"/>
                </a:solidFill>
              </a:rPr>
              <a:t>窄动作集合、强 baseline、离线 ablation、可回滚 schema/rule proposals。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C4D654-FB91-4633-9AAE-D3FD793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474A8-9E9D-412B-AF67-46F09CD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17997936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ACC844A-AB83-4BB7-8FA4-0B332D7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43683-93B0-4AD3-8DA6-AFF37CC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7A00"/>
          </a:solidFill>
          <a:ln xmlns:a="http://schemas.openxmlformats.org/drawingml/2006/main" w="0">
            <a:solidFill>
              <a:srgbClr val="C97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54B79-6B71-470E-A2C4-09C491E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00"/>
                </a:solidFill>
              </a:defRPr>
            </a:pPr>
            <a:r>
              <a:rPr sz="1200" b="1">
                <a:solidFill>
                  <a:srgbClr val="C97A00"/>
                </a:solidFill>
              </a:rPr>
              <a:t>6-MONTH PLAN + LABOR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8211EB-57D6-4854-9239-A1D7066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6 个月目标：完成 Step 0 substrate MVP，并交付 Step 1 learned daemon proof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8C5F33-54D4-47DC-B704-74EEF23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计划按 milestone gate 推进；建议预算约 24 人月，用于 2-3 名工程/研究人员并行推进。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EEDE2-3C70-4CD2-90E1-A7723CD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07DB5-01DA-48C1-8BFD-B68FB0DA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BFF"/>
                </a:solidFill>
              </a:defRPr>
            </a:pPr>
            <a:r>
              <a:rPr sz="2100" b="1">
                <a:solidFill>
                  <a:srgbClr val="2F6BFF"/>
                </a:solidFill>
              </a:rPr>
              <a:t>M1</a:t>
            </a:r>
          </a:p>
          <a:p xmlns:a="http://schemas.openxmlformats.org/drawingml/2006/main">
            <a:pPr>
              <a:defRPr sz="2100" b="1">
                <a:solidFill>
                  <a:srgbClr val="2F6BFF"/>
                </a:solidFill>
              </a:defRPr>
            </a:pPr>
            <a:r>
              <a:rPr sz="2100" b="1">
                <a:solidFill>
                  <a:srgbClr val="2F6BFF"/>
                </a:solidFill>
              </a:rPr>
              <a:t>Spec + vault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DD58E-CACA-4E53-A6BF-382D388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305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设计冻结；raw model；intake API；fixture corpus。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CA134-945C-459D-84FD-A0156970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9525">
            <a:solidFill>
              <a:srgbClr val="2CB8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9D9C2-FC2A-4C9F-AC5A-31B6355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CB8C7"/>
                </a:solidFill>
              </a:defRPr>
            </a:pPr>
            <a:r>
              <a:rPr sz="2100" b="1">
                <a:solidFill>
                  <a:srgbClr val="2CB8C7"/>
                </a:solidFill>
              </a:rPr>
              <a:t>M2</a:t>
            </a:r>
          </a:p>
          <a:p xmlns:a="http://schemas.openxmlformats.org/drawingml/2006/main">
            <a:pPr>
              <a:defRPr sz="2100" b="1">
                <a:solidFill>
                  <a:srgbClr val="2CB8C7"/>
                </a:solidFill>
              </a:defRPr>
            </a:pPr>
            <a:r>
              <a:rPr sz="2100" b="1">
                <a:solidFill>
                  <a:srgbClr val="2CB8C7"/>
                </a:solidFill>
              </a:rPr>
              <a:t>Projection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8156C-6D16-4713-A052-826F61ED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2305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plugins；candidate pipeline；source/procedure/decision fields。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F10BC-FF2F-4F5F-B79D-3ECC9DB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24E10-B69F-4A6C-9AE9-A07D30F5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66A"/>
                </a:solidFill>
              </a:defRPr>
            </a:pPr>
            <a:r>
              <a:rPr sz="2100" b="1">
                <a:solidFill>
                  <a:srgbClr val="12A66A"/>
                </a:solidFill>
              </a:rPr>
              <a:t>M3</a:t>
            </a:r>
          </a:p>
          <a:p xmlns:a="http://schemas.openxmlformats.org/drawingml/2006/main">
            <a:pPr>
              <a:defRPr sz="2100" b="1">
                <a:solidFill>
                  <a:srgbClr val="12A66A"/>
                </a:solidFill>
              </a:defRPr>
            </a:pPr>
            <a:r>
              <a:rPr sz="2100" b="1">
                <a:solidFill>
                  <a:srgbClr val="12A66A"/>
                </a:solidFill>
              </a:rPr>
              <a:t>Serving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DBD09-D4D8-42A0-B891-E04DF03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2305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policy packet；stable IDs；outcome logs；trace export。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E02A6-3EB8-42A3-B890-66942615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C97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43D9B-1F79-41B2-A181-B5A323B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7A00"/>
                </a:solidFill>
              </a:defRPr>
            </a:pPr>
            <a:r>
              <a:rPr sz="2100" b="1">
                <a:solidFill>
                  <a:srgbClr val="C97A00"/>
                </a:solidFill>
              </a:rPr>
              <a:t>M4</a:t>
            </a:r>
          </a:p>
          <a:p xmlns:a="http://schemas.openxmlformats.org/drawingml/2006/main">
            <a:pPr>
              <a:defRPr sz="2100" b="1">
                <a:solidFill>
                  <a:srgbClr val="C97A00"/>
                </a:solidFill>
              </a:defRPr>
            </a:pPr>
            <a:r>
              <a:rPr sz="2100" b="1">
                <a:solidFill>
                  <a:srgbClr val="C97A00"/>
                </a:solidFill>
              </a:rPr>
              <a:t>Eval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4B98B-D3C6-40D2-A2AA-D158D2D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2305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LongMemEval/LoCoMo slice；MnemonicOS-specific eval；baselines。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17F68-B30C-4DDC-82F4-8F4E976D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C828D-9E25-4235-BD08-8E0E86F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357FF"/>
                </a:solidFill>
              </a:defRPr>
            </a:pPr>
            <a:r>
              <a:rPr sz="2100" b="1">
                <a:solidFill>
                  <a:srgbClr val="7357FF"/>
                </a:solidFill>
              </a:rPr>
              <a:t>M5</a:t>
            </a:r>
          </a:p>
          <a:p xmlns:a="http://schemas.openxmlformats.org/drawingml/2006/main">
            <a:pPr>
              <a:defRPr sz="2100" b="1">
                <a:solidFill>
                  <a:srgbClr val="7357FF"/>
                </a:solidFill>
              </a:defRPr>
            </a:pPr>
            <a:r>
              <a:rPr sz="2100" b="1">
                <a:solidFill>
                  <a:srgbClr val="7357FF"/>
                </a:solidFill>
              </a:rPr>
              <a:t>SFT daemon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77285-3270-43C9-AEB5-37D9119B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00400"/>
            <a:ext cx="2305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action policy imitation；promotion/serve-format suggestions。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9C8EF-0A01-44F5-89B6-BD70338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2400300"/>
            <a:ext cx="26860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DD01D-5C20-47AD-8ECF-C035CBA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571750"/>
            <a:ext cx="2305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5D5D"/>
                </a:solidFill>
              </a:defRPr>
            </a:pPr>
            <a:r>
              <a:rPr sz="2100" b="1">
                <a:solidFill>
                  <a:srgbClr val="E85D5D"/>
                </a:solidFill>
              </a:rPr>
              <a:t>M6</a:t>
            </a:r>
          </a:p>
          <a:p xmlns:a="http://schemas.openxmlformats.org/drawingml/2006/main">
            <a:pPr>
              <a:defRPr sz="2100" b="1">
                <a:solidFill>
                  <a:srgbClr val="E85D5D"/>
                </a:solidFill>
              </a:defRPr>
            </a:pPr>
            <a:r>
              <a:rPr sz="2100" b="1">
                <a:solidFill>
                  <a:srgbClr val="E85D5D"/>
                </a:solidFill>
              </a:rPr>
              <a:t>Preference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EE429-3F7C-4707-94FC-7653AB8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200400"/>
            <a:ext cx="2305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preference/ranking；ablation；integrated true-raw demo。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DE956-2EC8-4933-BC8F-FD978FB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410200" cy="4229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EEB8A-E07C-4E13-BFE9-B2F88C5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Labor estimate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D3638-4EB7-4EC5-B8B0-AEEB239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Base: 2 FTE × 6 months = 12 person-months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6945A-4C19-46A8-90D1-4A9A66EB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198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Recommended: 3-4 FTE equivalent = ~18-24 person-months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2AE15-FC44-47EC-8402-6C660A9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151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Why: projection, eval, runtime hardening, daemon training can parallelize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8575D-8FA0-4B76-B245-146C1ECF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05400"/>
            <a:ext cx="5410200" cy="4229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AABCA-03C1-4193-995C-3198BF8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Milestone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E586A-8BD2-4FF7-AF5F-75C1264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340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M3: every task can answer what memory was served and why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0AD6FE-1546-4C9C-9ABA-E5EB157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293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M4: show MemoryOS value beyond retrieval delta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E1DAF7-577A-4472-AAC5-37F8FBB1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• M6: heuristic vs SFT vs preference daemon ablation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C1568-2210-4CE3-877B-54BF5B28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105400"/>
            <a:ext cx="5410200" cy="4229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0D1321"/>
          </a:solidFill>
          <a:ln xmlns:a="http://schemas.openxmlformats.org/drawingml/2006/main" w="0">
            <a:solidFill>
              <a:srgbClr val="0D132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48280-7E9D-4F02-8BB3-1F6F1910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3340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Final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B09D3-AE5D-4B9B-B5F8-67C6AB4D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7340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raw intake → projection → governed 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97766-862E-4063-A9EA-2329236F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0198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policy-aware serving → outcome 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EFCC2B-CE76-4553-A214-E27AC05E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30555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daemon proposals → runtime-gated writes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5F489-7B68-4E38-BDA3-8F8998B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5913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9EEF7"/>
                </a:solidFill>
              </a:defRPr>
            </a:pPr>
            <a:r>
              <a:rPr sz="1575">
                <a:solidFill>
                  <a:srgbClr val="E9EEF7"/>
                </a:solidFill>
              </a:rPr>
              <a:t>• RL story: outcome-driven memory lifecycle improvement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D79945-9E8B-4B1F-B9C0-E2DF050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844EE5-12FF-4869-A102-D56D479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12589281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8E650E6-C0B7-409B-9F34-637979B9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AD187-9638-4900-ADAA-AECD19C9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5C007-9AEB-4B5A-8045-3F9371E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BACKUP 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84A058-BAA0-4898-8B8B-C917F639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竞争定位：不要把 slow promotion 当唯一差异，真正差异是完整 operating layer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BA682F-5289-4BC0-A2B1-34D5F1D4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668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来自 MnemonicOS Competitive Landscape：Honcho / OpenClaw 已有 consolidation/review overlap，因此主张要转向 policy packet、outcome feedback、raw intake、agent-independent runtime。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1CD3C-AF4E-4F82-993D-F25B3F2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5410200" cy="67056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C97A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A6489-776C-4FA4-94F4-CFFA137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502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7A00"/>
                </a:solidFill>
              </a:defRPr>
            </a:pPr>
            <a:r>
              <a:rPr sz="1875" b="1">
                <a:solidFill>
                  <a:srgbClr val="C97A00"/>
                </a:solidFill>
              </a:rPr>
              <a:t>已有 overlap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53472-7FA1-4A42-B881-39F5FA6F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502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8"/>
                </a:solidFill>
              </a:defRPr>
            </a:pPr>
            <a:r>
              <a:rPr sz="1650">
                <a:solidFill>
                  <a:srgbClr val="101828"/>
                </a:solidFill>
              </a:rPr>
              <a:t>Honcho Dreaming、OpenClaw dreaming/wiki、Mem0 typed labels、Zep/Graphiti temporal graph 都覆盖部分 memory 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1A10B-6ED0-4EC0-9A7A-B7358A7B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5410200" cy="67056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0ED55-E3A1-4749-917B-48BE055D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0350"/>
            <a:ext cx="502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MnemonicOS moat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20F38-28DF-4E29-8D6D-ED31778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502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8"/>
                </a:solidFill>
              </a:defRPr>
            </a:pPr>
            <a:r>
              <a:rPr sz="1650">
                <a:solidFill>
                  <a:srgbClr val="101828"/>
                </a:solidFill>
              </a:rPr>
              <a:t>double-linked provenance：raw-source spans + success/failure traces；negative knowledge；cross-agent shared vault。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1A28B-3311-40E9-9A9F-4503D3D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28900"/>
            <a:ext cx="5410200" cy="6705600"/>
          </a:xfrm>
          <a:prstGeom xmlns:a="http://schemas.openxmlformats.org/drawingml/2006/main" prst="roundRect">
            <a:avLst>
              <a:gd name="adj" fmla="val 1056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23D1C-ECA3-41AA-95C3-2DF0723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800350"/>
            <a:ext cx="502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产品类别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C9AF9-F2B5-4662-82BA-AC6A287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24200"/>
            <a:ext cx="5029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8"/>
                </a:solidFill>
              </a:defRPr>
            </a:pPr>
            <a:r>
              <a:rPr sz="1650">
                <a:solidFill>
                  <a:srgbClr val="101828"/>
                </a:solidFill>
              </a:rPr>
              <a:t>不是框架库、数据库、embedding service 或 agent；而是任何 agent 都能调用的 local-first memory runtime。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04336-E71C-4F99-A10A-96A6AB30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C0328-DC69-4E43-BD45-9A2B4101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15717493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C76F2DA-CFA8-4AB7-813B-47D0770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8EB69-09EB-48A6-8E7E-DCECE7F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2189A-9622-4A76-A045-75FA8C6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8650"/>
            <a:ext cx="16497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BACKUP B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9E63E3-1C5F-43EA-B317-36B5FE9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1668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风险与对策：把风险设计进 runtime，而不是交给 prompt 运气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13B06-C8A3-4D7B-88F1-DBE8D1CE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8210550" cy="3762375"/>
          </a:xfrm>
          <a:prstGeom xmlns:a="http://schemas.openxmlformats.org/drawingml/2006/main" prst="roundRect">
            <a:avLst>
              <a:gd name="adj" fmla="val 151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85D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79828-16E5-4C0C-B216-06B5CA9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7829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D5D"/>
                </a:solidFill>
              </a:defRPr>
            </a:pPr>
            <a:r>
              <a:rPr sz="1875" b="1">
                <a:solidFill>
                  <a:srgbClr val="E85D5D"/>
                </a:solidFill>
              </a:rPr>
              <a:t>Raw intake 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24C10-B401-47FD-9357-F172B9E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噪声、隐私、投毒、版权：privacy class、deletion trail、audit、projection isolation 从 day 1 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BD9FE-7AD9-41E9-8F19-DDD66EE3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8210550" cy="3762375"/>
          </a:xfrm>
          <a:prstGeom xmlns:a="http://schemas.openxmlformats.org/drawingml/2006/main" prst="roundRect">
            <a:avLst>
              <a:gd name="adj" fmla="val 1519"/>
            </a:avLst>
          </a:prstGeom>
          <a:solidFill xmlns:a="http://schemas.openxmlformats.org/drawingml/2006/main">
            <a:srgbClr val="EFEAFE"/>
          </a:solidFill>
          <a:ln xmlns:a="http://schemas.openxmlformats.org/drawingml/2006/main" w="9525">
            <a:solidFill>
              <a:srgbClr val="73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B55E3-3B1C-483A-ACC9-9269F06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7829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357FF"/>
                </a:solidFill>
              </a:defRPr>
            </a:pPr>
            <a:r>
              <a:rPr sz="1875" b="1">
                <a:solidFill>
                  <a:srgbClr val="7357FF"/>
                </a:solidFill>
              </a:rPr>
              <a:t>Reward 延迟和噪声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1B58F-7155-482F-98D5-DC032BD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显式记录 useful / misleading / retry / task success；先 preference ranking，再窄动作 RL。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C93B7-BC08-4563-8334-CC0A2F1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8210550" cy="3762375"/>
          </a:xfrm>
          <a:prstGeom xmlns:a="http://schemas.openxmlformats.org/drawingml/2006/main" prst="roundRect">
            <a:avLst>
              <a:gd name="adj" fmla="val 151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49EC7-35A4-4875-90EC-6401CD5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7829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Benchmark delta 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C6D2D-D225-4831-9D86-C335BE5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不要只押 retrieval；同步评估 provenance correctness、stale/misleading avoidance、policy-packet usefulness。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8CCB5-C839-4AF1-BDC7-2ACEB927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72125"/>
            <a:ext cx="8210550" cy="3762375"/>
          </a:xfrm>
          <a:prstGeom xmlns:a="http://schemas.openxmlformats.org/drawingml/2006/main" prst="roundRect">
            <a:avLst>
              <a:gd name="adj" fmla="val 1519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12A6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71CAE-1F2A-4489-B7C5-DF45708E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53100"/>
            <a:ext cx="7829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A66A"/>
                </a:solidFill>
              </a:defRPr>
            </a:pPr>
            <a:r>
              <a:rPr sz="1875" b="1">
                <a:solidFill>
                  <a:srgbClr val="12A66A"/>
                </a:solidFill>
              </a:rPr>
              <a:t>Daemon 过拟合 heuristic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F31A9-13D9-48FC-847C-AA67B4B4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07695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改 trace quality、action taxonomy 和 contrastive examples；保留 deterministic baseline。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12039-02EC-4F43-B6EF-5C794319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8572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MnemonicOS proposal | revised narrative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246E1-44FC-4D42-AF66-CE918D9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601200"/>
            <a:ext cx="24765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A94A6"/>
                </a:solidFill>
              </a:defRPr>
            </a:pPr>
            <a:r>
              <a:rPr sz="900">
                <a:solidFill>
                  <a:srgbClr val="8A94A6"/>
                </a:solidFill>
              </a:rPr>
              <a:t>2026-04-24</a:t>
            </a:r>
          </a:p>
        </p:txBody>
      </p:sp>
    </p:spTree>
    <p:extLst>
      <p:ext uri="{BB962C8B-B14F-4D97-AF65-F5344CB8AC3E}">
        <p14:creationId xmlns:p14="http://schemas.microsoft.com/office/powerpoint/2010/main" val="1168362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2026-04-24T09:12:49.7620000Z</dcterms:created>
  <dcterms:modified xsi:type="dcterms:W3CDTF">2026-04-24T09:12:49.7620000Z</dcterms:modified>
</coreProperties>
</file>